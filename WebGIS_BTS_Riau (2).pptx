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97A7">
              <a:alpha val="35000"/>
            </a:srgbClr>
          </a:solidFill>
          <a:ln w="12700">
            <a:solidFill>
              <a:srgbClr val="0097A7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371600"/>
            <a:ext cx="137160" cy="137160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645920"/>
            <a:ext cx="137160" cy="137160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920240"/>
            <a:ext cx="137160" cy="137160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2194560"/>
            <a:ext cx="137160" cy="137160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2468880"/>
            <a:ext cx="137160" cy="137160"/>
          </a:xfrm>
          <a:prstGeom prst="ellipse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502920"/>
            <a:ext cx="438912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502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PERENCANAAN PROYEK WebGIS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10058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Persebaran BTS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WebGIS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926080" y="27889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2EBF2"/>
                </a:solidFill>
              </a:rPr>
              <a:t>Mendukung Informasi Infrastruktur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B2EBF2"/>
                </a:solidFill>
              </a:rPr>
              <a:t>Telekomunikasi Wilayah Riau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26080" y="2724912"/>
            <a:ext cx="41148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Kelompok WebGIS  |  Semester Genap 2024/2025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🌐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NAMA PROJECT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Identitas Proyek WebGIS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E3F2FD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32588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341"/>
                </a:solidFill>
              </a:rPr>
              <a:t>Sistem Informasi Persebaran Base Transceiver Station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2341"/>
                </a:solidFill>
              </a:rPr>
              <a:t>(BTS) Berbasis WebGIS Wilayah Riau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0" cy="749808"/>
          </a:xfrm>
          <a:prstGeom prst="rect">
            <a:avLst/>
          </a:prstGeom>
          <a:solidFill>
            <a:srgbClr val="ECEFF1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🏷️  Akronim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1"/>
                </a:solidFill>
              </a:rPr>
              <a:t>SIBTS-WebGIS Riau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926080"/>
            <a:ext cx="4114800" cy="749808"/>
          </a:xfrm>
          <a:prstGeom prst="rect">
            <a:avLst/>
          </a:prstGeom>
          <a:solidFill>
            <a:srgbClr val="ECEFF1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💻  Platform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1"/>
                </a:solidFill>
              </a:rPr>
              <a:t>Web Application (Browser-based)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114800" cy="749808"/>
          </a:xfrm>
          <a:prstGeom prst="rect">
            <a:avLst/>
          </a:prstGeom>
          <a:solidFill>
            <a:srgbClr val="ECEFF1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🗺️  Teknologi Utama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1"/>
                </a:solidFill>
              </a:rPr>
              <a:t>Leaflet.js / OpenLayers + GeoServer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3840480"/>
            <a:ext cx="4114800" cy="749808"/>
          </a:xfrm>
          <a:prstGeom prst="rect">
            <a:avLst/>
          </a:prstGeom>
          <a:solidFill>
            <a:srgbClr val="ECEFF1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📍  Cakupan Wilayah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4160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1"/>
                </a:solidFill>
              </a:rPr>
              <a:t>Provinsi Riau, Indonesia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LATAR BELAKANG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Mengapa proyek ini penting?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8503920" cy="804672"/>
          </a:xfrm>
          <a:prstGeom prst="rect">
            <a:avLst/>
          </a:prstGeom>
          <a:solidFill>
            <a:srgbClr val="E3F2FD"/>
          </a:solidFill>
          <a:ln w="12700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88720"/>
            <a:ext cx="54864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2435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Kebutuhan Infrastruktur Telekomunikasi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51790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Provinsi Riau memiliki wilayah luas dengan berbagai karakteristik geografis yang beragam, mulai dari perkotaan hingga pedesaan terpencil.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130552"/>
            <a:ext cx="8503920" cy="804672"/>
          </a:xfrm>
          <a:prstGeom prst="rect">
            <a:avLst/>
          </a:prstGeom>
          <a:solidFill>
            <a:srgbClr val="ECEFF1"/>
          </a:solidFill>
          <a:ln w="12700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130552"/>
            <a:ext cx="54864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7627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21854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Keterbatasan Data Spasial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45973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Data persebaran BTS masih tersebar dan belum terpusat, sehingga sulit diakses oleh pemangku kepentingan untuk perencanaan jaringan.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3072384"/>
            <a:ext cx="8503920" cy="804672"/>
          </a:xfrm>
          <a:prstGeom prst="rect">
            <a:avLst/>
          </a:prstGeom>
          <a:solidFill>
            <a:srgbClr val="E3F2FD"/>
          </a:solidFill>
          <a:ln w="12700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72384"/>
            <a:ext cx="54864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1810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127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Pemanfaatan Teknologi WebGIS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40156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WebGIS memungkinkan visualisasi dan analisis data spasial BTS secara interaktif melalui browser tanpa software GIS khusus.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4014216"/>
            <a:ext cx="8503920" cy="804672"/>
          </a:xfrm>
          <a:prstGeom prst="rect">
            <a:avLst/>
          </a:prstGeom>
          <a:solidFill>
            <a:srgbClr val="ECEFF1"/>
          </a:solidFill>
          <a:ln w="12700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4014216"/>
            <a:ext cx="54864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5993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4069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Dukungan Kebijakan Digital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34340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Sejalan dengan program digitalisasi nasional dan visi Riau Smart Province untuk pemerataan akses telekomunikasi.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DESKRIPSI STUDI KASUS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Lokasi, objek, dan ruang lingkup kajian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4023360" cy="3611880"/>
          </a:xfrm>
          <a:prstGeom prst="rect">
            <a:avLst/>
          </a:prstGeom>
          <a:solidFill>
            <a:srgbClr val="E3F2FD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618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PROFIL WILAYAH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007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📍 Lokasi Studi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9110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Provinsi Riau, Sumatera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225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🏙️ Luas Wilayah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532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87.024 km²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443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🗺️ Jumlah Kabupaten/Kota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3154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12 Kab/Kota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566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👥 Populasi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3776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± 7,1 juta jiwa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51376"/>
            <a:ext cx="3794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187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📡 Estimasi BTS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4398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&gt; 5.000 BTS (semua operator)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188720"/>
            <a:ext cx="4160520" cy="1600200"/>
          </a:xfrm>
          <a:prstGeom prst="rect">
            <a:avLst/>
          </a:prstGeom>
          <a:solidFill>
            <a:srgbClr val="ECEFF1"/>
          </a:solidFill>
          <a:ln w="1905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36592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OBJEK KAJIAN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157276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BTS Operator: Telkomsel, Indosat, XL, Tri
</a:t>
            </a:r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Jaringan: 2G, 3G, 4G, dan 5G
</a:t>
            </a:r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Data atribut: koordinat, tipe antena,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  ketinggian, kapasitas, coverage area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2944368"/>
            <a:ext cx="4160520" cy="1874520"/>
          </a:xfrm>
          <a:prstGeom prst="rect">
            <a:avLst/>
          </a:prstGeom>
          <a:solidFill>
            <a:srgbClr val="ECEFF1"/>
          </a:solidFill>
          <a:ln w="1905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36592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RUANG LINGKUP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3310128"/>
            <a:ext cx="3931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Pemetaan persebaran BTS se-Riau
</a:t>
            </a:r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Analisis kepadatan &amp; coverage sinyal
</a:t>
            </a:r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Dashboard informasi per operator
</a:t>
            </a:r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Fitur pencarian &amp; filter interaktif
</a:t>
            </a:r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Ekspor data &amp; laporan spasial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INPUT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Sumber data dan format yang digunakan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2743200" cy="1627632"/>
          </a:xfrm>
          <a:prstGeom prst="rect">
            <a:avLst/>
          </a:prstGeom>
          <a:solidFill>
            <a:srgbClr val="ECEFF1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88720"/>
            <a:ext cx="2743200" cy="3657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25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📡 Data BTS Operator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</a:rPr>
              <a:t>Sumber: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341"/>
                </a:solidFill>
              </a:rPr>
              <a:t>BRTI / Kominfo &amp; Operator Seluler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46E7A"/>
                </a:solidFill>
              </a:rPr>
              <a:t>Format: CSV / Excel / API JSON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73552" y="1188720"/>
            <a:ext cx="2743200" cy="1627632"/>
          </a:xfrm>
          <a:prstGeom prst="rect">
            <a:avLst/>
          </a:prstGeom>
          <a:solidFill>
            <a:srgbClr val="ECEFF1"/>
          </a:solidFill>
          <a:ln w="254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188720"/>
            <a:ext cx="2743200" cy="36576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225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🗺️ Peta Administrasi Riau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16276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</a:rPr>
              <a:t>Sumber: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3280" y="18105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341"/>
                </a:solidFill>
              </a:rPr>
              <a:t>BIG (Badan Informasi Geospasial)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22128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46E7A"/>
                </a:solidFill>
              </a:rPr>
              <a:t>Format: Shapefile (.shp) / GeoJSON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99632" y="1188720"/>
            <a:ext cx="2743200" cy="1627632"/>
          </a:xfrm>
          <a:prstGeom prst="rect">
            <a:avLst/>
          </a:prstGeom>
          <a:solidFill>
            <a:srgbClr val="ECEFF1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1188720"/>
            <a:ext cx="27432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225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🛰️ Citra Satelit / Basemap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09360" y="16276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</a:rPr>
              <a:t>Sumber: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09360" y="18105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341"/>
                </a:solidFill>
              </a:rPr>
              <a:t>OpenStreetMap, Google Maps API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22128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46E7A"/>
                </a:solidFill>
              </a:rPr>
              <a:t>Format: Tile Map (XYZ Tiles)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2999232"/>
            <a:ext cx="2743200" cy="1627632"/>
          </a:xfrm>
          <a:prstGeom prst="rect">
            <a:avLst/>
          </a:prstGeom>
          <a:solidFill>
            <a:srgbClr val="ECEFF1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2999232"/>
            <a:ext cx="2743200" cy="36576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📊 Data Kependudukan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4381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</a:rPr>
              <a:t>Sumber: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6210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341"/>
                </a:solidFill>
              </a:rPr>
              <a:t>BPS Provinsi Riau (2023)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023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46E7A"/>
                </a:solidFill>
              </a:rPr>
              <a:t>Format: CSV / Excel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73552" y="2999232"/>
            <a:ext cx="2743200" cy="1627632"/>
          </a:xfrm>
          <a:prstGeom prst="rect">
            <a:avLst/>
          </a:prstGeom>
          <a:solidFill>
            <a:srgbClr val="ECEFF1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73552" y="2999232"/>
            <a:ext cx="274320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🏔️ Data Elevasi / DEM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83280" y="34381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</a:rPr>
              <a:t>Sumber: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83280" y="36210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341"/>
                </a:solidFill>
              </a:rPr>
              <a:t>SRTM / DEMNAS BIG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0" y="4023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46E7A"/>
                </a:solidFill>
              </a:rPr>
              <a:t>Format: GeoTIFF (.tif)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99632" y="2999232"/>
            <a:ext cx="2743200" cy="1627632"/>
          </a:xfrm>
          <a:prstGeom prst="rect">
            <a:avLst/>
          </a:prstGeom>
          <a:solidFill>
            <a:srgbClr val="ECEFF1"/>
          </a:solidFill>
          <a:ln w="254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99632" y="2999232"/>
            <a:ext cx="2743200" cy="36576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🔤 Data Atribut Pelengkap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34381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6E7A"/>
                </a:solidFill>
              </a:rPr>
              <a:t>Sumber: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09360" y="36210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341"/>
                </a:solidFill>
              </a:rPr>
              <a:t>Survey lapangan / Open Data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4023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46E7A"/>
                </a:solidFill>
              </a:rPr>
              <a:t>Format: CSV / JSON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PENGOLAHAN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Alur pengolahan dari raw data hingga webgis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8503920" cy="694944"/>
          </a:xfrm>
          <a:prstGeom prst="rect">
            <a:avLst/>
          </a:prstGeom>
          <a:solidFill>
            <a:srgbClr val="ECEFF1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80160"/>
            <a:ext cx="475488" cy="47548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12252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Akuisisi &amp; Preprocessing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4904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Pengumpulan data BTS dari BRTI, validasi koordinat, cleaning duplikat, konversi format ke GeoJSON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1883664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7A7"/>
                </a:solidFill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938528"/>
            <a:ext cx="8503920" cy="694944"/>
          </a:xfrm>
          <a:prstGeom prst="rect">
            <a:avLst/>
          </a:prstGeom>
          <a:solidFill>
            <a:srgbClr val="ECEFF1"/>
          </a:solidFill>
          <a:ln w="1905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048256"/>
            <a:ext cx="475488" cy="47548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7552" y="19933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Georeferencing &amp; Proyeksi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225856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Transformasi sistem koordinat WGS84, overlay dengan peta administrasi Riau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0624" y="2651760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96B"/>
                </a:solidFill>
              </a:rPr>
              <a:t>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2706624"/>
            <a:ext cx="8503920" cy="694944"/>
          </a:xfrm>
          <a:prstGeom prst="rect">
            <a:avLst/>
          </a:prstGeom>
          <a:solidFill>
            <a:srgbClr val="ECEFF1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81635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7552" y="27614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Analisis Spasial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30266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Kernel density, Thiessen polygon coverage, analisis kepadatan per kecamatan, buffering radius sinyal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0624" y="3419856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65C0"/>
                </a:solidFill>
              </a:rPr>
              <a:t>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" y="3474720"/>
            <a:ext cx="8503920" cy="694944"/>
          </a:xfrm>
          <a:prstGeom prst="rect">
            <a:avLst/>
          </a:prstGeom>
          <a:solidFill>
            <a:srgbClr val="ECEFF1"/>
          </a:solidFill>
          <a:ln w="19050">
            <a:solidFill>
              <a:srgbClr val="0B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3584448"/>
            <a:ext cx="475488" cy="475488"/>
          </a:xfrm>
          <a:prstGeom prst="ellipse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584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7552" y="35295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Database &amp; GeoServer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379476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Import ke PostgreSQL/PostGIS, publish layer via GeoServer WMS/WFS, konfigurasi styling SLD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0624" y="4187952"/>
            <a:ext cx="411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2341"/>
                </a:solidFill>
              </a:rPr>
              <a:t>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" y="4242816"/>
            <a:ext cx="8503920" cy="694944"/>
          </a:xfrm>
          <a:prstGeom prst="rect">
            <a:avLst/>
          </a:prstGeom>
          <a:solidFill>
            <a:srgbClr val="ECEFF1"/>
          </a:solidFill>
          <a:ln w="1905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4352544"/>
            <a:ext cx="475488" cy="475488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352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7552" y="42976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Pengembangan WebGIS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7552" y="456285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Frontend Leaflet.js, fitur popup, filter, chart statistik, ekspor data, responsif mobile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OUTPUT PROJECT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Hasil akhir yang dihasilkan dari proyek ini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420624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70432"/>
            <a:ext cx="73152" cy="11155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161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60704" y="1234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Aplikasi WebGIS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0704" y="153619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Web app interaktif peta persebaran BTS real-time dengan fitur zoom, popup info, filter operator &amp; jaringan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420624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70432"/>
            <a:ext cx="73152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161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68112" y="1234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Dashboard Statistik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68112" y="153619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Visualisasi chart jumlah BTS per operator, per kab/kota, per tipe jaringan, dan perkembangan tahunan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432304"/>
            <a:ext cx="420624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432304"/>
            <a:ext cx="73152" cy="11155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4780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60704" y="24963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Peta Tematik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0704" y="279806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Layer peta: heatmap kepadatan BTS, coverage sinyal, blank spot area, overlay administrasi wilayah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432304"/>
            <a:ext cx="420624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432304"/>
            <a:ext cx="73152" cy="111556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4780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68112" y="24963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Database Spasial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68112" y="279806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PostgreSQL/PostGIS berisi data BTS terstruktur, siap diintegrasikan dengan sistem informasi lain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694176"/>
            <a:ext cx="420624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3694176"/>
            <a:ext cx="73152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37398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60704" y="3758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Laporan &amp; Dokumentasi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0704" y="405993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Laporan teknis pengolahan data, manual pengguna WebGIS, dan metadata layer GIS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694176"/>
            <a:ext cx="420624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B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694176"/>
            <a:ext cx="73152" cy="1115568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398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68112" y="37581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341"/>
                </a:solidFill>
              </a:rPr>
              <a:t>API &amp; Layanan WMS/WFS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68112" y="405993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Endpoint GeoServer untuk integrasi data spasial BTS ke aplikasi atau dashboard pihak ketiga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KOMPONEN UTAMA PROYEK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Empat pilar pengembangan WebGIS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4206240" cy="1755648"/>
          </a:xfrm>
          <a:prstGeom prst="rect">
            <a:avLst/>
          </a:prstGeom>
          <a:solidFill>
            <a:srgbClr val="ECEFF1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70432"/>
            <a:ext cx="42062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2529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🎨  Perencanaan Interface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Wireframe &amp; mockup UI WebGIS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975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Desain responsif (desktop &amp; mobile)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UX user-friendly untuk navigasi peta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Rancangan popup &amp; dashboard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170432"/>
            <a:ext cx="4206240" cy="1755648"/>
          </a:xfrm>
          <a:prstGeom prst="rect">
            <a:avLst/>
          </a:prstGeom>
          <a:solidFill>
            <a:srgbClr val="ECEFF1"/>
          </a:solidFill>
          <a:ln w="254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70432"/>
            <a:ext cx="4206240" cy="41148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22529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🗄️  Perancangan 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ERD &amp; skema PostgreSQL/PostGIS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975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Tabel BTS, operator, wilayah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Konfigurasi GeoServer WMS/WFS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Manajemen metadata &amp; backup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090672"/>
            <a:ext cx="4206240" cy="1755648"/>
          </a:xfrm>
          <a:prstGeom prst="rect">
            <a:avLst/>
          </a:prstGeom>
          <a:solidFill>
            <a:srgbClr val="ECEFF1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090672"/>
            <a:ext cx="420624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4553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 Perencanaan Fungsional &amp; Timeline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584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Spesifikasi fitur &amp; modul sistem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3895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Gantt chart milestone proyek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Jadwal sprint &amp; deliverable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517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Pengujian (UAT) &amp; deployment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090672"/>
            <a:ext cx="4206240" cy="1755648"/>
          </a:xfrm>
          <a:prstGeom prst="rect">
            <a:avLst/>
          </a:prstGeom>
          <a:solidFill>
            <a:srgbClr val="ECEFF1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90672"/>
            <a:ext cx="4206240" cy="41148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14553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👥  Manajemen Anggota Tim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584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Struktur organisasi &amp; jobdesk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3895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Koordinasi &amp; rapat mingguan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Monitoring progres anggota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4517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▸  Pengelolaan repository &amp; dokumen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JOBDESK KELOMPOK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621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Pembagian peran dan tanggung jawab anggota tim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274320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0B2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170432"/>
            <a:ext cx="2743200" cy="457200"/>
          </a:xfrm>
          <a:prstGeom prst="rect">
            <a:avLst/>
          </a:prstGeom>
          <a:solidFill>
            <a:srgbClr val="0B2341"/>
          </a:solidFill>
          <a:ln w="12700">
            <a:solidFill>
              <a:srgbClr val="0B2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225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👑 Tota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1682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341"/>
                </a:solidFill>
              </a:rPr>
              <a:t>Project Manager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9476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Komponen: Manajemen Anggota Tim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0624" y="2185416"/>
            <a:ext cx="2606040" cy="27432"/>
          </a:xfrm>
          <a:prstGeom prst="rect">
            <a:avLst/>
          </a:prstGeom>
          <a:solidFill>
            <a:srgbClr val="0B2341">
              <a:alpha val="40000"/>
            </a:srgbClr>
          </a:solidFill>
          <a:ln w="12700">
            <a:solidFill>
              <a:srgbClr val="0B2341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24942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Koordinasi tim, monitoring progres, penjadwalan sprint, manajemen repository dan dokumentasi proyek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55264" y="1170432"/>
            <a:ext cx="274320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55264" y="1170432"/>
            <a:ext cx="274320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225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🎨 Dirra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28416" y="1682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</a:rPr>
              <a:t>UI/UX Designer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28416" y="19476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Komponen: Perencanaan Interface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28416" y="2185416"/>
            <a:ext cx="2606040" cy="27432"/>
          </a:xfrm>
          <a:prstGeom prst="rect">
            <a:avLst/>
          </a:prstGeom>
          <a:solidFill>
            <a:srgbClr val="0097A7">
              <a:alpha val="40000"/>
            </a:srgbClr>
          </a:solidFill>
          <a:ln w="12700">
            <a:solidFill>
              <a:srgbClr val="0097A7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224942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Wireframe &amp; mockup, desain responsif WebGIS, perancangan UX navigasi peta, popup, dan dashboard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63056" y="1170432"/>
            <a:ext cx="274320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170432"/>
            <a:ext cx="2743200" cy="4572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225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🗺️ Shalna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682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96B"/>
                </a:solidFill>
              </a:rPr>
              <a:t>GIS Analyst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6208" y="19476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Komponen: Perencanaan Interface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36208" y="2185416"/>
            <a:ext cx="2606040" cy="27432"/>
          </a:xfrm>
          <a:prstGeom prst="rect">
            <a:avLst/>
          </a:prstGeom>
          <a:solidFill>
            <a:srgbClr val="00796B">
              <a:alpha val="40000"/>
            </a:srgbClr>
          </a:solidFill>
          <a:ln w="12700">
            <a:solidFill>
              <a:srgbClr val="00796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224942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Analisis spasial BTS, simbologi peta, kartografi WebGIS, perancangan layer visualisasi tematik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3090672"/>
            <a:ext cx="274320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3090672"/>
            <a:ext cx="2743200" cy="45720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145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Ibas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0624" y="36027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F00"/>
                </a:solidFill>
              </a:rPr>
              <a:t>Database Engineer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38679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Komponen: Perancangan Database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0624" y="4105656"/>
            <a:ext cx="2606040" cy="27432"/>
          </a:xfrm>
          <a:prstGeom prst="rect">
            <a:avLst/>
          </a:prstGeom>
          <a:solidFill>
            <a:srgbClr val="FF6F00">
              <a:alpha val="40000"/>
            </a:srgbClr>
          </a:solidFill>
          <a:ln w="12700">
            <a:solidFill>
              <a:srgbClr val="FF6F00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16966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ERD &amp; skema PostGIS, konfigurasi GeoServer WMS/WFS, manajemen data spasial dan backup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55264" y="3090672"/>
            <a:ext cx="274320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55264" y="3090672"/>
            <a:ext cx="27432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3145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Satrio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28416" y="36027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Backend Developer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28416" y="38679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Komponen: Perancangan Database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28416" y="4105656"/>
            <a:ext cx="2606040" cy="27432"/>
          </a:xfrm>
          <a:prstGeom prst="rect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28416" y="416966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API development, integrasi GeoServer, pengelolaan server &amp; deployment, keamanan sistem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63056" y="3090672"/>
            <a:ext cx="2743200" cy="1755648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63056" y="3090672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3145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💻 Mustopa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36208" y="36027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Frontend Developer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36208" y="38679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7A"/>
                </a:solidFill>
              </a:rPr>
              <a:t>Komponen: Perencanaan Fungsional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36208" y="4105656"/>
            <a:ext cx="2606040" cy="27432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416966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Pengembangan WebGIS Leaflet.js, fitur filter &amp; pencarian, chart statistik, timeline &amp; milestone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114800" cy="41148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🌐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Terima Kasih!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8803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2EBF2"/>
                </a:solidFill>
              </a:rPr>
              <a:t>Sistem Informasi Persebaran BTS Berbasis WebGIS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B2EBF2"/>
                </a:solidFill>
              </a:rPr>
              <a:t>Wilayah Riau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Tim: Tota · Dirra · Shalna · Ibas · Satrio · Mustopa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WebGIS BTS Riau</dc:title>
  <dc:subject>PptxGenJS Presentation</dc:subject>
  <dc:creator>PptxGenJS</dc:creator>
  <cp:lastModifiedBy>PptxGenJS</cp:lastModifiedBy>
  <cp:revision>1</cp:revision>
  <dcterms:created xsi:type="dcterms:W3CDTF">2026-04-19T08:48:00Z</dcterms:created>
  <dcterms:modified xsi:type="dcterms:W3CDTF">2026-04-19T08:48:00Z</dcterms:modified>
</cp:coreProperties>
</file>